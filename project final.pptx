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7" r:id="rId2"/>
    <p:sldId id="258" r:id="rId3"/>
    <p:sldId id="259" r:id="rId4"/>
    <p:sldId id="261" r:id="rId5"/>
    <p:sldId id="260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8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9196D44A-0DC5-44A7-82EE-828D9D783D2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22" name="Google Shape;22;p1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23" name="Google Shape;2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E3BB375-0072-49FD-B42A-D968C5EF36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94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9196D44A-0DC5-44A7-82EE-828D9D783D2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28" name="Google Shape;28;p1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29" name="Google Shape;2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E3BB375-0072-49FD-B42A-D968C5EF36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6146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9196D44A-0DC5-44A7-82EE-828D9D783D2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3" name="Google Shape;33;p16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E3BB375-0072-49FD-B42A-D968C5EF36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81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Google Shape;3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9196D44A-0DC5-44A7-82EE-828D9D783D2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9" name="Google Shape;39;p17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pic>
        <p:nvPicPr>
          <p:cNvPr id="40" name="Google Shape;40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E3BB375-0072-49FD-B42A-D968C5EF36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4461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63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Google Shape;4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9196D44A-0DC5-44A7-82EE-828D9D783D2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9" name="Google Shape;49;p18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8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pic>
        <p:nvPicPr>
          <p:cNvPr id="51" name="Google Shape;51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8"/>
          <p:cNvSpPr/>
          <p:nvPr/>
        </p:nvSpPr>
        <p:spPr>
          <a:xfrm>
            <a:off x="10933155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E3BB375-0072-49FD-B42A-D968C5EF36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37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Google Shape;5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9196D44A-0DC5-44A7-82EE-828D9D783D2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9" name="Google Shape;59;p19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E3BB375-0072-49FD-B42A-D968C5EF36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470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Google Shape;64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Google Shape;65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Google Shape;66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Google Shape;6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9196D44A-0DC5-44A7-82EE-828D9D783D2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8" name="Google Shape;68;p20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69" name="Google Shape;6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E3BB375-0072-49FD-B42A-D968C5EF36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4328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Google Shape;73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Google Shape;74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9196D44A-0DC5-44A7-82EE-828D9D783D2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75" name="Google Shape;75;p2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76" name="Google Shape;7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E3BB375-0072-49FD-B42A-D968C5EF36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428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9" name="Google Shape;79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" name="Google Shape;8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9196D44A-0DC5-44A7-82EE-828D9D783D2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2" name="Google Shape;82;p22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83" name="Google Shape;8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E3BB375-0072-49FD-B42A-D968C5EF36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984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Google Shape;8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9196D44A-0DC5-44A7-82EE-828D9D783D2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8" name="Google Shape;88;p2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89" name="Google Shape;8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E3BB375-0072-49FD-B42A-D968C5EF36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9707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2" name="Google Shape;92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3" name="Google Shape;93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9196D44A-0DC5-44A7-82EE-828D9D783D2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94" name="Google Shape;94;p2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95" name="Google Shape;95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E3BB375-0072-49FD-B42A-D968C5EF36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710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8" name="Google Shape;9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9196D44A-0DC5-44A7-82EE-828D9D783D2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99" name="Google Shape;99;p2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100" name="Google Shape;10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E3BB375-0072-49FD-B42A-D968C5EF36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6686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6D44A-0DC5-44A7-82EE-828D9D783D2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BB375-0072-49FD-B42A-D968C5EF36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80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3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3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3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3" name="Google Shape;13;p13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3"/>
          <p:cNvSpPr/>
          <p:nvPr/>
        </p:nvSpPr>
        <p:spPr>
          <a:xfrm>
            <a:off x="10974189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Google Shape;15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9196D44A-0DC5-44A7-82EE-828D9D783D2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18" name="Google Shape;18;p1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US"/>
          </a:p>
        </p:txBody>
      </p:sp>
      <p:sp>
        <p:nvSpPr>
          <p:cNvPr id="19" name="Google Shape;1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E3BB375-0072-49FD-B42A-D968C5EF36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50858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76294-B2FA-FDD2-983A-A3B8657411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0237" y="2475745"/>
            <a:ext cx="10500535" cy="2387600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project manufacturing_downtime_events</a:t>
            </a:r>
          </a:p>
        </p:txBody>
      </p:sp>
    </p:spTree>
    <p:extLst>
      <p:ext uri="{BB962C8B-B14F-4D97-AF65-F5344CB8AC3E}">
        <p14:creationId xmlns:p14="http://schemas.microsoft.com/office/powerpoint/2010/main" val="3345574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0357FB-C5D7-5828-B25A-21C789C5E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756745"/>
          </a:xfrm>
        </p:spPr>
        <p:txBody>
          <a:bodyPr>
            <a:normAutofit/>
          </a:bodyPr>
          <a:lstStyle/>
          <a:p>
            <a:pPr algn="r"/>
            <a:r>
              <a:rPr lang="ar-SA" sz="24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ويحتوي على بيانات قيمة عن توقفات الإنتاج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(Manufacturing Downtime)</a:t>
            </a:r>
            <a:endParaRPr lang="en-US" sz="24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31DB982B-C611-FDA4-4721-D0FBE0D8A81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93" r="32693"/>
          <a:stretch/>
        </p:blipFill>
        <p:spPr/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291941-5FB2-6BF3-59E2-B5F1BFD591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1413" y="1513762"/>
            <a:ext cx="5934511" cy="5065714"/>
          </a:xfrm>
        </p:spPr>
        <p:txBody>
          <a:bodyPr>
            <a:noAutofit/>
          </a:bodyPr>
          <a:lstStyle/>
          <a:p>
            <a:pPr algn="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📊 </a:t>
            </a:r>
            <a:r>
              <a:rPr lang="ar-SA" dirty="0">
                <a:solidFill>
                  <a:schemeClr val="accent1">
                    <a:lumMod val="50000"/>
                  </a:schemeClr>
                </a:solidFill>
              </a:rPr>
              <a:t>البيانات المتاحة في الملف</a:t>
            </a:r>
          </a:p>
          <a:p>
            <a:pPr algn="r" rtl="1"/>
            <a:r>
              <a:rPr lang="ar-SA" b="1" u="sng" dirty="0">
                <a:solidFill>
                  <a:schemeClr val="accent1">
                    <a:lumMod val="50000"/>
                  </a:schemeClr>
                </a:solidFill>
              </a:rPr>
              <a:t>1. معلومات أساسية</a:t>
            </a:r>
          </a:p>
          <a:p>
            <a:pPr algn="r" rtl="1"/>
            <a:r>
              <a:rPr lang="ar-SA" dirty="0">
                <a:solidFill>
                  <a:schemeClr val="accent1">
                    <a:lumMod val="50000"/>
                  </a:schemeClr>
                </a:solidFill>
              </a:rPr>
              <a:t>•	</a:t>
            </a:r>
            <a:r>
              <a:rPr lang="ar-KW" dirty="0">
                <a:solidFill>
                  <a:schemeClr val="accent1">
                    <a:lumMod val="50000"/>
                  </a:schemeClr>
                </a:solidFill>
              </a:rPr>
              <a:t> ا</a:t>
            </a:r>
            <a:r>
              <a:rPr lang="ar-SA" dirty="0">
                <a:solidFill>
                  <a:schemeClr val="accent1">
                    <a:lumMod val="50000"/>
                  </a:schemeClr>
                </a:solidFill>
              </a:rPr>
              <a:t>حداث توقف الإنتاج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Downtime Events)</a:t>
            </a:r>
            <a:r>
              <a:rPr lang="ar-KW" dirty="0">
                <a:solidFill>
                  <a:schemeClr val="accent1">
                    <a:lumMod val="50000"/>
                  </a:schemeClr>
                </a:solidFill>
              </a:rPr>
              <a:t>)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algn="r" rtl="1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•	</a:t>
            </a:r>
            <a:r>
              <a:rPr lang="ar-SA" dirty="0">
                <a:solidFill>
                  <a:schemeClr val="accent1">
                    <a:lumMod val="50000"/>
                  </a:schemeClr>
                </a:solidFill>
              </a:rPr>
              <a:t>تواريخ ووقت التوقف</a:t>
            </a:r>
          </a:p>
          <a:p>
            <a:pPr algn="r" rtl="1"/>
            <a:r>
              <a:rPr lang="ar-SA" dirty="0">
                <a:solidFill>
                  <a:schemeClr val="accent1">
                    <a:lumMod val="50000"/>
                  </a:schemeClr>
                </a:solidFill>
              </a:rPr>
              <a:t>•	مدة التوقف</a:t>
            </a:r>
          </a:p>
          <a:p>
            <a:pPr algn="r" rtl="1"/>
            <a:r>
              <a:rPr lang="ar-SA" dirty="0">
                <a:solidFill>
                  <a:schemeClr val="accent1">
                    <a:lumMod val="50000"/>
                  </a:schemeClr>
                </a:solidFill>
              </a:rPr>
              <a:t>•	أسباب التوقف</a:t>
            </a:r>
          </a:p>
          <a:p>
            <a:pPr algn="r"/>
            <a:r>
              <a:rPr lang="ar-SA" b="1" u="sng" dirty="0">
                <a:solidFill>
                  <a:schemeClr val="accent1">
                    <a:lumMod val="50000"/>
                  </a:schemeClr>
                </a:solidFill>
              </a:rPr>
              <a:t>2. أبعاد محتملة للتحليل</a:t>
            </a:r>
          </a:p>
          <a:p>
            <a:pPr algn="r" rtl="1"/>
            <a:r>
              <a:rPr lang="ar-SA" dirty="0">
                <a:solidFill>
                  <a:schemeClr val="accent1">
                    <a:lumMod val="50000"/>
                  </a:schemeClr>
                </a:solidFill>
              </a:rPr>
              <a:t>•	الخطوط الإنتاجية</a:t>
            </a:r>
          </a:p>
          <a:p>
            <a:pPr algn="r" rtl="1"/>
            <a:r>
              <a:rPr lang="ar-SA" dirty="0">
                <a:solidFill>
                  <a:schemeClr val="accent1">
                    <a:lumMod val="50000"/>
                  </a:schemeClr>
                </a:solidFill>
              </a:rPr>
              <a:t>•	الآلات/المعدات</a:t>
            </a:r>
          </a:p>
          <a:p>
            <a:pPr algn="r" rtl="1"/>
            <a:r>
              <a:rPr lang="ar-SA" dirty="0">
                <a:solidFill>
                  <a:schemeClr val="accent1">
                    <a:lumMod val="50000"/>
                  </a:schemeClr>
                </a:solidFill>
              </a:rPr>
              <a:t>•	الفترات الزمنية</a:t>
            </a:r>
          </a:p>
          <a:p>
            <a:pPr algn="r" rtl="1"/>
            <a:r>
              <a:rPr lang="ar-SA" dirty="0">
                <a:solidFill>
                  <a:schemeClr val="accent1">
                    <a:lumMod val="50000"/>
                  </a:schemeClr>
                </a:solidFill>
              </a:rPr>
              <a:t>•	أنواع الأعطال</a:t>
            </a:r>
          </a:p>
          <a:p>
            <a:pPr algn="r"/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7332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0357FB-C5D7-5828-B25A-21C789C5E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84084"/>
            <a:ext cx="9947714" cy="6611006"/>
          </a:xfrm>
        </p:spPr>
        <p:txBody>
          <a:bodyPr/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ar-S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ويحتوي على بيانات قيمة عن توقفات الإنتاج</a:t>
            </a:r>
            <a:r>
              <a:rPr lang="ar-SA" sz="18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484C29-E979-6AED-6EFE-683BEB8E3BBA}"/>
              </a:ext>
            </a:extLst>
          </p:cNvPr>
          <p:cNvSpPr txBox="1"/>
          <p:nvPr/>
        </p:nvSpPr>
        <p:spPr>
          <a:xfrm>
            <a:off x="3047999" y="746235"/>
            <a:ext cx="8376745" cy="5156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solidFill>
                  <a:schemeClr val="accent1">
                    <a:lumMod val="50000"/>
                  </a:schemeClr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💡</a:t>
            </a:r>
            <a:r>
              <a:rPr lang="en-US" sz="1800" b="1" kern="100" dirty="0">
                <a:solidFill>
                  <a:schemeClr val="accent1">
                    <a:lumMod val="50000"/>
                  </a:schemeClr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ar-SA" sz="1800" b="1" kern="100" dirty="0">
                <a:solidFill>
                  <a:schemeClr val="accent1">
                    <a:lumMod val="50000"/>
                  </a:schemeClr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أفكار لـ</a:t>
            </a:r>
            <a:r>
              <a:rPr lang="en-US" sz="1800" b="1" kern="100" dirty="0">
                <a:solidFill>
                  <a:schemeClr val="accent1">
                    <a:lumMod val="50000"/>
                  </a:schemeClr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Dashboard </a:t>
            </a:r>
            <a:r>
              <a:rPr lang="ar-SA" sz="1800" b="1" kern="100" dirty="0">
                <a:solidFill>
                  <a:schemeClr val="accent1">
                    <a:lumMod val="50000"/>
                  </a:schemeClr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احترافي</a:t>
            </a:r>
            <a:endParaRPr lang="en-US" sz="1800" kern="100" dirty="0">
              <a:solidFill>
                <a:schemeClr val="accent1">
                  <a:lumMod val="50000"/>
                </a:schemeClr>
              </a:solidFill>
              <a:effectLst/>
              <a:latin typeface="Arial Black" panose="020B0A040201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solidFill>
                  <a:schemeClr val="accent1">
                    <a:lumMod val="50000"/>
                  </a:schemeClr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Dashboard 1: </a:t>
            </a:r>
            <a:r>
              <a:rPr lang="ar-SA" sz="1800" b="1" kern="100" dirty="0">
                <a:solidFill>
                  <a:schemeClr val="accent1">
                    <a:lumMod val="50000"/>
                  </a:schemeClr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نظرة عامة تنفيذية</a:t>
            </a:r>
            <a:r>
              <a:rPr lang="en-US" sz="1800" b="1" kern="100" dirty="0">
                <a:solidFill>
                  <a:schemeClr val="accent1">
                    <a:lumMod val="50000"/>
                  </a:schemeClr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(Executive Overview)</a:t>
            </a:r>
            <a:endParaRPr lang="en-US" sz="1800" kern="100" dirty="0">
              <a:solidFill>
                <a:schemeClr val="accent1">
                  <a:lumMod val="50000"/>
                </a:schemeClr>
              </a:solidFill>
              <a:effectLst/>
              <a:latin typeface="Arial Black" panose="020B0A040201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solidFill>
                  <a:schemeClr val="accent1">
                    <a:lumMod val="50000"/>
                  </a:schemeClr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📌</a:t>
            </a:r>
            <a:r>
              <a:rPr lang="en-US" sz="1800" kern="100" dirty="0">
                <a:solidFill>
                  <a:schemeClr val="accent1">
                    <a:lumMod val="50000"/>
                  </a:schemeClr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ar-SA" sz="1800" kern="100" dirty="0">
                <a:solidFill>
                  <a:schemeClr val="accent1">
                    <a:lumMod val="50000"/>
                  </a:schemeClr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المقاييس الرئيسية</a:t>
            </a:r>
            <a:r>
              <a:rPr lang="en-US" sz="1800" kern="100" dirty="0">
                <a:solidFill>
                  <a:schemeClr val="accent1">
                    <a:lumMod val="50000"/>
                  </a:schemeClr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(KPIs):</a:t>
            </a:r>
          </a:p>
          <a:p>
            <a:pPr marL="0" marR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solidFill>
                  <a:schemeClr val="accent1">
                    <a:lumMod val="50000"/>
                  </a:schemeClr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├</a:t>
            </a:r>
            <a:r>
              <a:rPr lang="en-US" sz="1800" kern="100" dirty="0">
                <a:solidFill>
                  <a:schemeClr val="accent1">
                    <a:lumMod val="50000"/>
                  </a:schemeClr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─</a:t>
            </a:r>
            <a:r>
              <a:rPr lang="en-US" sz="1800" kern="100" dirty="0">
                <a:solidFill>
                  <a:schemeClr val="accent1">
                    <a:lumMod val="50000"/>
                  </a:schemeClr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ar-SA" sz="1800" kern="100" dirty="0">
                <a:solidFill>
                  <a:schemeClr val="accent1">
                    <a:lumMod val="50000"/>
                  </a:schemeClr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إجمالي ساعات التوقف</a:t>
            </a:r>
            <a:endParaRPr lang="en-US" sz="1800" kern="100" dirty="0">
              <a:solidFill>
                <a:schemeClr val="accent1">
                  <a:lumMod val="50000"/>
                </a:schemeClr>
              </a:solidFill>
              <a:effectLst/>
              <a:latin typeface="Arial Black" panose="020B0A040201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solidFill>
                  <a:schemeClr val="accent1">
                    <a:lumMod val="50000"/>
                  </a:schemeClr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├</a:t>
            </a:r>
            <a:r>
              <a:rPr lang="en-US" sz="1800" kern="100" dirty="0">
                <a:solidFill>
                  <a:schemeClr val="accent1">
                    <a:lumMod val="50000"/>
                  </a:schemeClr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─</a:t>
            </a:r>
            <a:r>
              <a:rPr lang="en-US" sz="1800" kern="100" dirty="0">
                <a:solidFill>
                  <a:schemeClr val="accent1">
                    <a:lumMod val="50000"/>
                  </a:schemeClr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ar-SA" sz="1800" kern="100" dirty="0">
                <a:solidFill>
                  <a:schemeClr val="accent1">
                    <a:lumMod val="50000"/>
                  </a:schemeClr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متوسط وقت التوقف لكل حدث</a:t>
            </a:r>
            <a:endParaRPr lang="en-US" sz="1800" kern="100" dirty="0">
              <a:solidFill>
                <a:schemeClr val="accent1">
                  <a:lumMod val="50000"/>
                </a:schemeClr>
              </a:solidFill>
              <a:effectLst/>
              <a:latin typeface="Arial Black" panose="020B0A040201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solidFill>
                  <a:schemeClr val="accent1">
                    <a:lumMod val="50000"/>
                  </a:schemeClr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├</a:t>
            </a:r>
            <a:r>
              <a:rPr lang="en-US" sz="1800" kern="100" dirty="0">
                <a:solidFill>
                  <a:schemeClr val="accent1">
                    <a:lumMod val="50000"/>
                  </a:schemeClr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─</a:t>
            </a:r>
            <a:r>
              <a:rPr lang="en-US" sz="1800" kern="100" dirty="0">
                <a:solidFill>
                  <a:schemeClr val="accent1">
                    <a:lumMod val="50000"/>
                  </a:schemeClr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ar-SA" sz="1800" kern="100" dirty="0">
                <a:solidFill>
                  <a:schemeClr val="accent1">
                    <a:lumMod val="50000"/>
                  </a:schemeClr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عدد أحداث التوقف</a:t>
            </a:r>
            <a:endParaRPr lang="en-US" sz="1800" kern="100" dirty="0">
              <a:solidFill>
                <a:schemeClr val="accent1">
                  <a:lumMod val="50000"/>
                </a:schemeClr>
              </a:solidFill>
              <a:effectLst/>
              <a:latin typeface="Arial Black" panose="020B0A040201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solidFill>
                  <a:schemeClr val="accent1">
                    <a:lumMod val="50000"/>
                  </a:schemeClr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├</a:t>
            </a:r>
            <a:r>
              <a:rPr lang="en-US" sz="1800" kern="100" dirty="0">
                <a:solidFill>
                  <a:schemeClr val="accent1">
                    <a:lumMod val="50000"/>
                  </a:schemeClr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─</a:t>
            </a:r>
            <a:r>
              <a:rPr lang="en-US" sz="1800" kern="100" dirty="0">
                <a:solidFill>
                  <a:schemeClr val="accent1">
                    <a:lumMod val="50000"/>
                  </a:schemeClr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ar-SA" sz="1800" kern="100" dirty="0">
                <a:solidFill>
                  <a:schemeClr val="accent1">
                    <a:lumMod val="50000"/>
                  </a:schemeClr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نسبة الوقت المفقود من وقت الإنتاج</a:t>
            </a:r>
            <a:endParaRPr lang="en-US" sz="1800" kern="100" dirty="0">
              <a:solidFill>
                <a:schemeClr val="accent1">
                  <a:lumMod val="50000"/>
                </a:schemeClr>
              </a:solidFill>
              <a:effectLst/>
              <a:latin typeface="Arial Black" panose="020B0A040201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solidFill>
                  <a:schemeClr val="accent1">
                    <a:lumMod val="50000"/>
                  </a:schemeClr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└─ </a:t>
            </a:r>
            <a:r>
              <a:rPr lang="ar-SA" sz="1800" kern="100" dirty="0">
                <a:solidFill>
                  <a:schemeClr val="accent1">
                    <a:lumMod val="50000"/>
                  </a:schemeClr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تكلفة التوقف المقدرة</a:t>
            </a:r>
            <a:endParaRPr lang="en-US" sz="1800" kern="100" dirty="0">
              <a:solidFill>
                <a:schemeClr val="accent1">
                  <a:lumMod val="50000"/>
                </a:schemeClr>
              </a:solidFill>
              <a:effectLst/>
              <a:latin typeface="Arial Black" panose="020B0A040201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ar-SA" sz="1800" b="1" kern="100" dirty="0">
                <a:solidFill>
                  <a:schemeClr val="accent1">
                    <a:lumMod val="50000"/>
                  </a:schemeClr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المرئيات</a:t>
            </a:r>
            <a:r>
              <a:rPr lang="en-US" sz="1800" b="1" kern="100" dirty="0">
                <a:solidFill>
                  <a:schemeClr val="accent1">
                    <a:lumMod val="50000"/>
                  </a:schemeClr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US" sz="1800" kern="100" dirty="0">
              <a:solidFill>
                <a:schemeClr val="accent1">
                  <a:lumMod val="50000"/>
                </a:schemeClr>
              </a:solidFill>
              <a:effectLst/>
              <a:latin typeface="Arial Black" panose="020B0A040201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solidFill>
                  <a:schemeClr val="accent1">
                    <a:lumMod val="50000"/>
                  </a:schemeClr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Cards</a:t>
            </a:r>
            <a:r>
              <a:rPr lang="en-US" sz="1800" kern="100" dirty="0">
                <a:solidFill>
                  <a:schemeClr val="accent1">
                    <a:lumMod val="50000"/>
                  </a:schemeClr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ar-SA" sz="1800" kern="100" dirty="0">
                <a:solidFill>
                  <a:schemeClr val="accent1">
                    <a:lumMod val="50000"/>
                  </a:schemeClr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للمقاييس الأساسية</a:t>
            </a:r>
            <a:endParaRPr lang="en-US" sz="1800" kern="100" dirty="0">
              <a:solidFill>
                <a:schemeClr val="accent1">
                  <a:lumMod val="50000"/>
                </a:schemeClr>
              </a:solidFill>
              <a:effectLst/>
              <a:latin typeface="Arial Black" panose="020B0A040201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solidFill>
                  <a:schemeClr val="accent1">
                    <a:lumMod val="50000"/>
                  </a:schemeClr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Line Chart</a:t>
            </a:r>
            <a:r>
              <a:rPr lang="en-US" sz="1800" kern="100" dirty="0">
                <a:solidFill>
                  <a:schemeClr val="accent1">
                    <a:lumMod val="50000"/>
                  </a:schemeClr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ar-SA" sz="1800" kern="100" dirty="0">
                <a:solidFill>
                  <a:schemeClr val="accent1">
                    <a:lumMod val="50000"/>
                  </a:schemeClr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لاتجاه التوقفات عبر الزمن</a:t>
            </a:r>
            <a:endParaRPr lang="en-US" sz="1800" kern="100" dirty="0">
              <a:solidFill>
                <a:schemeClr val="accent1">
                  <a:lumMod val="50000"/>
                </a:schemeClr>
              </a:solidFill>
              <a:effectLst/>
              <a:latin typeface="Arial Black" panose="020B0A040201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solidFill>
                  <a:schemeClr val="accent1">
                    <a:lumMod val="50000"/>
                  </a:schemeClr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Gauge</a:t>
            </a:r>
            <a:r>
              <a:rPr lang="en-US" sz="1800" kern="100" dirty="0">
                <a:solidFill>
                  <a:schemeClr val="accent1">
                    <a:lumMod val="50000"/>
                  </a:schemeClr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ar-SA" sz="1800" kern="100" dirty="0">
                <a:solidFill>
                  <a:schemeClr val="accent1">
                    <a:lumMod val="50000"/>
                  </a:schemeClr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لمؤشر الأداء</a:t>
            </a:r>
            <a:r>
              <a:rPr lang="en-US" sz="1800" kern="100" dirty="0">
                <a:solidFill>
                  <a:schemeClr val="accent1">
                    <a:lumMod val="50000"/>
                  </a:schemeClr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(OEE - Overall Equipment Effectiveness)</a:t>
            </a:r>
          </a:p>
          <a:p>
            <a:pPr algn="r" rtl="1"/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KPI Visual</a:t>
            </a:r>
            <a:r>
              <a:rPr lang="en-US" sz="1800" dirty="0">
                <a:solidFill>
                  <a:schemeClr val="accent1">
                    <a:lumMod val="50000"/>
                  </a:schemeClr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ar-SA" sz="1800" dirty="0">
                <a:solidFill>
                  <a:schemeClr val="accent1">
                    <a:lumMod val="50000"/>
                  </a:schemeClr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لمقارنة الشهر الحالي بالسابق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BB946B-1CFC-1353-0A32-17B6D2A18B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0036" y="1757045"/>
            <a:ext cx="3420932" cy="22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94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18A6300-318A-2193-88D1-CB71EDE07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2160" y="-335280"/>
            <a:ext cx="6532880" cy="6654800"/>
          </a:xfrm>
        </p:spPr>
        <p:txBody>
          <a:bodyPr>
            <a:noAutofit/>
          </a:bodyPr>
          <a:lstStyle/>
          <a:p>
            <a:pPr algn="r" rtl="1"/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Dashboard 2: </a:t>
            </a:r>
            <a:r>
              <a:rPr lang="ar-SA" sz="2000" b="1" dirty="0">
                <a:solidFill>
                  <a:schemeClr val="accent1">
                    <a:lumMod val="50000"/>
                  </a:schemeClr>
                </a:solidFill>
              </a:rPr>
              <a:t>تحليل الأسباب (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Root Cause Analysis)</a:t>
            </a:r>
            <a:br>
              <a:rPr lang="en-US" sz="20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ar-SA" sz="2000" u="sng" dirty="0">
                <a:solidFill>
                  <a:schemeClr val="accent1">
                    <a:lumMod val="50000"/>
                  </a:schemeClr>
                </a:solidFill>
              </a:rPr>
              <a:t>المرئيات المقترحة:</a:t>
            </a:r>
            <a:br>
              <a:rPr lang="ar-SA" sz="20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ar-SA" sz="2000" dirty="0">
                <a:solidFill>
                  <a:schemeClr val="accent1">
                    <a:lumMod val="50000"/>
                  </a:schemeClr>
                </a:solidFill>
              </a:rPr>
              <a:t>1.	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Pareto Chart </a:t>
            </a:r>
            <a:br>
              <a:rPr lang="en-US" sz="20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o	</a:t>
            </a:r>
            <a:r>
              <a:rPr lang="ar-SA" sz="2000" dirty="0">
                <a:solidFill>
                  <a:schemeClr val="accent1">
                    <a:lumMod val="50000"/>
                  </a:schemeClr>
                </a:solidFill>
              </a:rPr>
              <a:t>أهم 10 أسباب للتوقف</a:t>
            </a:r>
            <a:br>
              <a:rPr lang="ar-SA" sz="20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o	</a:t>
            </a:r>
            <a:r>
              <a:rPr lang="ar-SA" sz="2000" dirty="0">
                <a:solidFill>
                  <a:schemeClr val="accent1">
                    <a:lumMod val="50000"/>
                  </a:schemeClr>
                </a:solidFill>
              </a:rPr>
              <a:t>يظهر القاعدة 80/20</a:t>
            </a:r>
            <a:br>
              <a:rPr lang="ar-SA" sz="20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ar-SA" sz="2000" dirty="0">
                <a:solidFill>
                  <a:schemeClr val="accent1">
                    <a:lumMod val="50000"/>
                  </a:schemeClr>
                </a:solidFill>
              </a:rPr>
              <a:t>2.	</a:t>
            </a:r>
            <a:r>
              <a:rPr lang="en-US" sz="2000" dirty="0" err="1">
                <a:solidFill>
                  <a:schemeClr val="accent1">
                    <a:lumMod val="50000"/>
                  </a:schemeClr>
                </a:solidFill>
              </a:rPr>
              <a:t>Treemap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br>
              <a:rPr lang="en-US" sz="20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o	</a:t>
            </a:r>
            <a:r>
              <a:rPr lang="ar-SA" sz="2000" dirty="0">
                <a:solidFill>
                  <a:schemeClr val="accent1">
                    <a:lumMod val="50000"/>
                  </a:schemeClr>
                </a:solidFill>
              </a:rPr>
              <a:t>تصنيف الأسباب حسب الفئة</a:t>
            </a:r>
            <a:br>
              <a:rPr lang="ar-SA" sz="20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o	(</a:t>
            </a:r>
            <a:r>
              <a:rPr lang="ar-SA" sz="2000" dirty="0">
                <a:solidFill>
                  <a:schemeClr val="accent1">
                    <a:lumMod val="50000"/>
                  </a:schemeClr>
                </a:solidFill>
              </a:rPr>
              <a:t>ميكانيكي، كهربائي، بشري، مواد خام)</a:t>
            </a:r>
            <a:br>
              <a:rPr lang="ar-SA" sz="20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ar-SA" sz="2000" dirty="0">
                <a:solidFill>
                  <a:schemeClr val="accent1">
                    <a:lumMod val="50000"/>
                  </a:schemeClr>
                </a:solidFill>
              </a:rPr>
              <a:t>3.	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Matrix Table </a:t>
            </a:r>
            <a:br>
              <a:rPr lang="en-US" sz="20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o	</a:t>
            </a:r>
            <a:r>
              <a:rPr lang="ar-SA" sz="2000" dirty="0">
                <a:solidFill>
                  <a:schemeClr val="accent1">
                    <a:lumMod val="50000"/>
                  </a:schemeClr>
                </a:solidFill>
              </a:rPr>
              <a:t>تفصيل كل سبب مع: </a:t>
            </a:r>
            <a:br>
              <a:rPr lang="ar-SA" sz="20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ar-SA" sz="2000" dirty="0">
                <a:solidFill>
                  <a:schemeClr val="accent1">
                    <a:lumMod val="50000"/>
                  </a:schemeClr>
                </a:solidFill>
              </a:rPr>
              <a:t>	عدد المرات</a:t>
            </a:r>
            <a:br>
              <a:rPr lang="ar-SA" sz="20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ar-SA" sz="2000" dirty="0">
                <a:solidFill>
                  <a:schemeClr val="accent1">
                    <a:lumMod val="50000"/>
                  </a:schemeClr>
                </a:solidFill>
              </a:rPr>
              <a:t>	إجمالي الوقت</a:t>
            </a:r>
            <a:br>
              <a:rPr lang="ar-SA" sz="20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ar-SA" sz="2000" dirty="0">
                <a:solidFill>
                  <a:schemeClr val="accent1">
                    <a:lumMod val="50000"/>
                  </a:schemeClr>
                </a:solidFill>
              </a:rPr>
              <a:t>	متوسط المدة</a:t>
            </a:r>
            <a:br>
              <a:rPr lang="ar-SA" sz="20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ar-SA" sz="2000" dirty="0">
                <a:solidFill>
                  <a:schemeClr val="accent1">
                    <a:lumMod val="50000"/>
                  </a:schemeClr>
                </a:solidFill>
              </a:rPr>
              <a:t>	التكلفة</a:t>
            </a:r>
            <a:br>
              <a:rPr lang="ar-SA" sz="20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ar-SA" sz="2000" dirty="0">
                <a:solidFill>
                  <a:schemeClr val="accent1">
                    <a:lumMod val="50000"/>
                  </a:schemeClr>
                </a:solidFill>
              </a:rPr>
              <a:t>4.	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Waterfall Chart </a:t>
            </a:r>
            <a:br>
              <a:rPr lang="en-US" sz="20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o	</a:t>
            </a:r>
            <a:r>
              <a:rPr lang="ar-SA" sz="2000" dirty="0">
                <a:solidFill>
                  <a:schemeClr val="accent1">
                    <a:lumMod val="50000"/>
                  </a:schemeClr>
                </a:solidFill>
              </a:rPr>
              <a:t>مساهمة كل سبب في إجمالي التوقف</a:t>
            </a:r>
            <a:br>
              <a:rPr lang="ar-SA" sz="2000" dirty="0">
                <a:solidFill>
                  <a:schemeClr val="accent1">
                    <a:lumMod val="50000"/>
                  </a:schemeClr>
                </a:solidFill>
              </a:rPr>
            </a:b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F01941F-43FD-3E5D-A3EF-97CF2C7CA0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7000"/>
                    </a14:imgEffect>
                    <a14:imgEffect>
                      <a14:saturation sat="168000"/>
                    </a14:imgEffect>
                    <a14:imgEffect>
                      <a14:brightnessContrast bright="-1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793" y="1993582"/>
            <a:ext cx="4189520" cy="2324418"/>
          </a:xfrm>
          <a:prstGeom prst="rect">
            <a:avLst/>
          </a:prstGeom>
          <a:effectLst>
            <a:outerShdw blurRad="50800" dist="25400" dir="5400000" algn="ctr" rotWithShape="0">
              <a:srgbClr val="000000">
                <a:alpha val="92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98100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0357FB-C5D7-5828-B25A-21C789C5E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056602"/>
          </a:xfrm>
        </p:spPr>
        <p:txBody>
          <a:bodyPr/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ar-S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ويحتوي على بيانات قيمة عن توقفات الإنتاج</a:t>
            </a:r>
            <a:r>
              <a:rPr lang="ar-SA" sz="18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D74EF5-35B3-88E5-A031-4F99BF71BD8E}"/>
              </a:ext>
            </a:extLst>
          </p:cNvPr>
          <p:cNvSpPr txBox="1"/>
          <p:nvPr/>
        </p:nvSpPr>
        <p:spPr>
          <a:xfrm>
            <a:off x="3040380" y="441957"/>
            <a:ext cx="7881620" cy="476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Dashboard 3: </a:t>
            </a:r>
            <a:r>
              <a:rPr lang="ar-SA" b="1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التحليل الزمني</a:t>
            </a:r>
            <a:r>
              <a:rPr lang="en-US" b="1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(Time Analysis)</a:t>
            </a:r>
            <a:endParaRPr lang="en-US" kern="10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ar-SA" b="1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المرئيات</a:t>
            </a:r>
            <a:r>
              <a:rPr lang="en-US" b="1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US" kern="10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b="1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Area Chart</a:t>
            </a:r>
            <a:r>
              <a:rPr lang="en-US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742950" marR="0" lvl="1" indent="-28575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ar-SA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اتجاه التوقفات شهريًا/أسبوعيًا</a:t>
            </a:r>
            <a:endParaRPr lang="en-US" kern="10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b="1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Heat Map</a:t>
            </a:r>
            <a:r>
              <a:rPr lang="en-US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742950" marR="0" lvl="1" indent="-28575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ar-SA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التوقفات حسب اليوم والساعة</a:t>
            </a:r>
            <a:endParaRPr lang="en-US" kern="10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ar-SA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لاكتشاف الأنماط الزمنية</a:t>
            </a:r>
            <a:endParaRPr lang="en-US" kern="10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b="1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Column Chart</a:t>
            </a:r>
            <a:r>
              <a:rPr lang="en-US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742950" marR="0" lvl="1" indent="-28575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ar-SA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مقارنة الأشهر/الأرباع</a:t>
            </a:r>
            <a:endParaRPr lang="en-US" kern="10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Year over Year comparison</a:t>
            </a:r>
          </a:p>
          <a:p>
            <a:pPr marL="342900" marR="0" lvl="0" indent="-34290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b="1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Calendar Visual</a:t>
            </a:r>
            <a:r>
              <a:rPr lang="en-US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742950" marR="0" lvl="1" indent="-28575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ar-SA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عرض الأيام ذات التوقفات الأكثر</a:t>
            </a:r>
            <a:endParaRPr lang="en-US" kern="10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3CA140-B70C-5A28-C9ED-0B05364D3D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689"/>
          <a:stretch/>
        </p:blipFill>
        <p:spPr>
          <a:xfrm>
            <a:off x="1141413" y="618518"/>
            <a:ext cx="5272076" cy="4585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718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0357FB-C5D7-5828-B25A-21C789C5E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036282"/>
          </a:xfrm>
        </p:spPr>
        <p:txBody>
          <a:bodyPr/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ar-S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ويحتوي على بيانات قيمة عن توقفات الإنتاج</a:t>
            </a:r>
            <a:r>
              <a:rPr lang="ar-SA" sz="18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BC64DD-D995-2937-B769-C5D28D04B591}"/>
              </a:ext>
            </a:extLst>
          </p:cNvPr>
          <p:cNvSpPr txBox="1"/>
          <p:nvPr/>
        </p:nvSpPr>
        <p:spPr>
          <a:xfrm>
            <a:off x="3040380" y="71120"/>
            <a:ext cx="8531860" cy="645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Dashboard 4: </a:t>
            </a:r>
            <a:r>
              <a:rPr lang="ar-SA" sz="2000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تحليل المعدات</a:t>
            </a:r>
            <a:r>
              <a:rPr lang="en-US" sz="2000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(Equipment Performance)</a:t>
            </a:r>
          </a:p>
          <a:p>
            <a:pPr marL="0" marR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ar-SA" sz="2000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المرئيات</a:t>
            </a:r>
            <a:r>
              <a:rPr lang="en-US" sz="2000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</a:p>
          <a:p>
            <a:pPr marL="342900" marR="0" lvl="0" indent="-34290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000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Horizontal Bar Chart </a:t>
            </a:r>
          </a:p>
          <a:p>
            <a:pPr marL="742950" marR="0" lvl="1" indent="-28575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ar-SA" sz="2000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ترتيب الآلات حسب وقت التوقف</a:t>
            </a:r>
            <a:endParaRPr lang="en-US" sz="2000" kern="10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000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Scatter Chart </a:t>
            </a:r>
          </a:p>
          <a:p>
            <a:pPr marL="742950" marR="0" lvl="1" indent="-28575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ar-SA" sz="2000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تكرار الأعطال</a:t>
            </a:r>
            <a:r>
              <a:rPr lang="en-US" sz="2000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vs </a:t>
            </a:r>
            <a:r>
              <a:rPr lang="ar-SA" sz="2000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مدة التوقف</a:t>
            </a:r>
            <a:endParaRPr lang="en-US" sz="2000" kern="10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ar-SA" sz="2000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لتحديد المعدات الأكثر إشكالية</a:t>
            </a:r>
            <a:endParaRPr lang="en-US" sz="2000" kern="10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000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Table with Conditional Formatting </a:t>
            </a:r>
          </a:p>
          <a:p>
            <a:pPr marL="742950" marR="0" lvl="1" indent="-28575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ar-SA" sz="2000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قائمة المعدات مع مؤشرات ملونة</a:t>
            </a:r>
            <a:r>
              <a:rPr lang="en-US" sz="2000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</a:p>
          <a:p>
            <a:pPr marL="1143000" marR="0" lvl="2" indent="-22860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2000" kern="100" dirty="0">
                <a:solidFill>
                  <a:schemeClr val="accent1">
                    <a:lumMod val="50000"/>
                  </a:schemeClr>
                </a:solidFill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🔴</a:t>
            </a:r>
            <a:r>
              <a:rPr lang="en-US" sz="2000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ar-SA" sz="2000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حرج (يحتاج صيانة عاجلة)</a:t>
            </a:r>
            <a:endParaRPr lang="en-US" sz="2000" kern="10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143000" marR="0" lvl="2" indent="-22860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2000" kern="100" dirty="0">
                <a:solidFill>
                  <a:schemeClr val="accent1">
                    <a:lumMod val="50000"/>
                  </a:schemeClr>
                </a:solidFill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🟡</a:t>
            </a:r>
            <a:r>
              <a:rPr lang="en-US" sz="2000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ar-SA" sz="2000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متوسط</a:t>
            </a:r>
            <a:endParaRPr lang="en-US" sz="2000" kern="10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143000" marR="0" lvl="2" indent="-22860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2000" kern="100" dirty="0">
                <a:solidFill>
                  <a:schemeClr val="accent1">
                    <a:lumMod val="50000"/>
                  </a:schemeClr>
                </a:solidFill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🟢</a:t>
            </a:r>
            <a:r>
              <a:rPr lang="en-US" sz="2000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ar-SA" sz="2000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جيد</a:t>
            </a:r>
            <a:endParaRPr lang="en-US" sz="2000" kern="10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000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Decomposition Tree </a:t>
            </a:r>
          </a:p>
          <a:p>
            <a:pPr marL="742950" marR="0" lvl="1" indent="-28575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ar-SA" sz="2000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تحليل تفصيلي حسب</a:t>
            </a:r>
            <a:r>
              <a:rPr lang="en-US" sz="2000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</a:p>
          <a:p>
            <a:pPr marL="1143000" marR="0" lvl="2" indent="-22860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ar-SA" sz="2000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خط الإنتاج → الآلة → نوع العطل</a:t>
            </a:r>
            <a:endParaRPr lang="en-US" sz="2000" kern="10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D040AD-C1AE-98C5-C73C-893E1C3323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696" y="1377620"/>
            <a:ext cx="5215412" cy="314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557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0357FB-C5D7-5828-B25A-21C789C5E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84084"/>
            <a:ext cx="9947714" cy="6611006"/>
          </a:xfrm>
        </p:spPr>
        <p:txBody>
          <a:bodyPr/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ar-S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ويحتوي على بيانات قيمة عن توقفات الإنتاج</a:t>
            </a:r>
            <a:r>
              <a:rPr lang="ar-SA" sz="18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A69CAB-D847-7597-9991-E1A0B674C5EC}"/>
              </a:ext>
            </a:extLst>
          </p:cNvPr>
          <p:cNvSpPr txBox="1"/>
          <p:nvPr/>
        </p:nvSpPr>
        <p:spPr>
          <a:xfrm>
            <a:off x="3048000" y="162910"/>
            <a:ext cx="8351520" cy="47241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1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Dashboard 5: </a:t>
            </a:r>
            <a:r>
              <a:rPr lang="ar-SA" sz="2000" b="1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التكلفة والخسائر</a:t>
            </a:r>
            <a:r>
              <a:rPr lang="en-US" sz="2000" b="1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(Cost Impact)</a:t>
            </a:r>
            <a:endParaRPr lang="en-US" sz="2000" kern="10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ar-SA" sz="2000" b="1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المقاييس</a:t>
            </a:r>
            <a:r>
              <a:rPr lang="en-US" sz="2000" b="1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US" sz="2000" kern="10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chemeClr val="accent1">
                    <a:lumMod val="50000"/>
                  </a:schemeClr>
                </a:solidFill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💰</a:t>
            </a:r>
            <a:r>
              <a:rPr lang="en-US" sz="2000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ar-SA" sz="2000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التكاليف المحسوبة</a:t>
            </a:r>
            <a:r>
              <a:rPr lang="en-US" sz="2000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</a:p>
          <a:p>
            <a:pPr marL="0" marR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├</a:t>
            </a:r>
            <a:r>
              <a:rPr lang="en-US" sz="2000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─</a:t>
            </a:r>
            <a:r>
              <a:rPr lang="en-US" sz="2000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ar-SA" sz="2000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خسارة الإنتاج</a:t>
            </a:r>
            <a:r>
              <a:rPr lang="en-US" sz="2000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(Lost Production Value)</a:t>
            </a:r>
          </a:p>
          <a:p>
            <a:pPr marL="0" marR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├</a:t>
            </a:r>
            <a:r>
              <a:rPr lang="en-US" sz="2000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─</a:t>
            </a:r>
            <a:r>
              <a:rPr lang="en-US" sz="2000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ar-SA" sz="2000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تكلفة العمالة أثناء التوقف</a:t>
            </a:r>
            <a:endParaRPr lang="en-US" sz="2000" kern="10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├</a:t>
            </a:r>
            <a:r>
              <a:rPr lang="en-US" sz="2000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─</a:t>
            </a:r>
            <a:r>
              <a:rPr lang="en-US" sz="2000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ar-SA" sz="2000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تكلفة الإصلاح والصيانة</a:t>
            </a:r>
            <a:endParaRPr lang="en-US" sz="2000" kern="10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└─ </a:t>
            </a:r>
            <a:r>
              <a:rPr lang="ar-SA" sz="2000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إجمالي الخسائر المالية</a:t>
            </a:r>
            <a:endParaRPr lang="en-US" sz="2000" kern="10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ar-SA" sz="2000" b="1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المرئيات</a:t>
            </a:r>
            <a:r>
              <a:rPr lang="en-US" sz="2000" b="1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US" sz="2000" kern="10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Donut Chart</a:t>
            </a:r>
            <a:r>
              <a:rPr lang="en-US" sz="2000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- </a:t>
            </a:r>
            <a:r>
              <a:rPr lang="ar-SA" sz="2000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توزيع التكاليف</a:t>
            </a:r>
            <a:endParaRPr lang="en-US" sz="2000" kern="10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Ribbon Chart</a:t>
            </a:r>
            <a:r>
              <a:rPr lang="en-US" sz="2000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- </a:t>
            </a:r>
            <a:r>
              <a:rPr lang="ar-SA" sz="2000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تغير التكلفة عبر الوقت حسب الفئة</a:t>
            </a:r>
            <a:endParaRPr lang="en-US" sz="2000" kern="10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Card Visual</a:t>
            </a:r>
            <a:r>
              <a:rPr lang="en-US" sz="2000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- </a:t>
            </a:r>
            <a:r>
              <a:rPr lang="ar-SA" sz="2000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إجمالي الخسائر مع مقارنة بالفترة السابقة</a:t>
            </a:r>
            <a:endParaRPr lang="en-US" sz="2000" kern="10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A4D4CA-F85D-64F0-C3DA-49EC7DA170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424" y="1037128"/>
            <a:ext cx="4597948" cy="309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912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0357FB-C5D7-5828-B25A-21C789C5E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396240"/>
            <a:ext cx="9923690" cy="5656217"/>
          </a:xfrm>
        </p:spPr>
        <p:txBody>
          <a:bodyPr/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ar-S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ويحتوي على بيانات قيمة عن توقفات الإنتاج</a:t>
            </a:r>
            <a:r>
              <a:rPr lang="ar-SA" sz="18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08EE22-A0CD-9083-1942-B85B86D5BF26}"/>
              </a:ext>
            </a:extLst>
          </p:cNvPr>
          <p:cNvSpPr txBox="1"/>
          <p:nvPr/>
        </p:nvSpPr>
        <p:spPr>
          <a:xfrm>
            <a:off x="4521200" y="396240"/>
            <a:ext cx="7183120" cy="3855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1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Dashboard 6: </a:t>
            </a:r>
            <a:r>
              <a:rPr lang="ar-SA" sz="2000" b="1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التحليل التنبؤي</a:t>
            </a:r>
            <a:r>
              <a:rPr lang="en-US" sz="2000" b="1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(Predictive Insights)</a:t>
            </a:r>
            <a:endParaRPr lang="en-US" sz="2000" kern="10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ar-SA" sz="2000" b="1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المرئيات المتقدمة</a:t>
            </a:r>
            <a:r>
              <a:rPr lang="en-US" sz="2000" b="1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US" sz="2000" kern="10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000" b="1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Forecasting Line Chart</a:t>
            </a:r>
            <a:r>
              <a:rPr lang="en-US" sz="2000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742950" marR="0" lvl="1" indent="-28575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ar-SA" sz="2000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توقع التوقفات المستقبلية</a:t>
            </a:r>
            <a:endParaRPr lang="en-US" sz="2000" kern="10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ar-SA" sz="2000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باستخدام</a:t>
            </a:r>
            <a:r>
              <a:rPr lang="en-US" sz="2000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AI Insights </a:t>
            </a:r>
            <a:r>
              <a:rPr lang="ar-SA" sz="2000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في</a:t>
            </a:r>
            <a:r>
              <a:rPr lang="en-US" sz="2000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Power BI</a:t>
            </a:r>
          </a:p>
          <a:p>
            <a:pPr marL="342900" marR="0" lvl="0" indent="-34290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000" b="1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Key Influencers Visual</a:t>
            </a:r>
            <a:r>
              <a:rPr lang="en-US" sz="2000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742950" marR="0" lvl="1" indent="-28575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ar-SA" sz="2000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العوامل الأكثر تأثيرًا في زيادة التوقف</a:t>
            </a:r>
            <a:endParaRPr lang="en-US" sz="2000" kern="10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000" b="1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Anomaly Detection</a:t>
            </a:r>
            <a:r>
              <a:rPr lang="en-US" sz="2000" kern="1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algn="r" rtl="1"/>
            <a:r>
              <a:rPr lang="ar-SA" sz="200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اكتشاف الأحداث غير الطبيعية تلقائيًا</a:t>
            </a: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B38C46-CEF6-C0DC-1E0D-26514BF827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495"/>
          <a:stretch/>
        </p:blipFill>
        <p:spPr>
          <a:xfrm>
            <a:off x="2458720" y="984885"/>
            <a:ext cx="3911600" cy="3266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925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0357FB-C5D7-5828-B25A-21C789C5E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84084"/>
            <a:ext cx="9947714" cy="6611006"/>
          </a:xfrm>
        </p:spPr>
        <p:txBody>
          <a:bodyPr/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ar-S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ويحتوي على بيانات قيمة عن توقفات الإنتاج</a:t>
            </a:r>
            <a:r>
              <a:rPr lang="ar-SA" sz="18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636333"/>
      </p:ext>
    </p:extLst>
  </p:cSld>
  <p:clrMapOvr>
    <a:masterClrMapping/>
  </p:clrMapOvr>
</p:sld>
</file>

<file path=ppt/theme/theme1.xml><?xml version="1.0" encoding="utf-8"?>
<a:theme xmlns:a="http://schemas.openxmlformats.org/drawingml/2006/main" name="DEPI Final Project. PPT Templat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DEPI Final Project. PPT Template</Template>
  <TotalTime>62</TotalTime>
  <Words>509</Words>
  <Application>Microsoft Office PowerPoint</Application>
  <PresentationFormat>Widescreen</PresentationFormat>
  <Paragraphs>80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Arial Black</vt:lpstr>
      <vt:lpstr>Calibri</vt:lpstr>
      <vt:lpstr>Courier New</vt:lpstr>
      <vt:lpstr>Segoe UI Emoji</vt:lpstr>
      <vt:lpstr>Symbol</vt:lpstr>
      <vt:lpstr>Wingdings</vt:lpstr>
      <vt:lpstr>DEPI Final Project. PPT Template</vt:lpstr>
      <vt:lpstr>project manufacturing_downtime_events</vt:lpstr>
      <vt:lpstr>ويحتوي على بيانات قيمة عن توقفات الإنتاج (Manufacturing Downtime)</vt:lpstr>
      <vt:lpstr> ويحتوي على بيانات قيمة عن توقفات الإنتاج </vt:lpstr>
      <vt:lpstr>Dashboard 2: تحليل الأسباب (Root Cause Analysis) المرئيات المقترحة: 1. Pareto Chart  o أهم 10 أسباب للتوقف o يظهر القاعدة 80/20 2. Treemap  o تصنيف الأسباب حسب الفئة o (ميكانيكي، كهربائي، بشري، مواد خام) 3. Matrix Table  o تفصيل كل سبب مع:   عدد المرات  إجمالي الوقت  متوسط المدة  التكلفة 4. Waterfall Chart  o مساهمة كل سبب في إجمالي التوقف </vt:lpstr>
      <vt:lpstr> ويحتوي على بيانات قيمة عن توقفات الإنتاج </vt:lpstr>
      <vt:lpstr> ويحتوي على بيانات قيمة عن توقفات الإنتاج </vt:lpstr>
      <vt:lpstr> ويحتوي على بيانات قيمة عن توقفات الإنتاج </vt:lpstr>
      <vt:lpstr> ويحتوي على بيانات قيمة عن توقفات الإنتاج </vt:lpstr>
      <vt:lpstr> ويحتوي على بيانات قيمة عن توقفات الإنتاج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Zeinab Ismail</dc:creator>
  <cp:lastModifiedBy>wavz365</cp:lastModifiedBy>
  <cp:revision>6</cp:revision>
  <dcterms:created xsi:type="dcterms:W3CDTF">2025-10-12T13:16:35Z</dcterms:created>
  <dcterms:modified xsi:type="dcterms:W3CDTF">2025-11-30T21:38:10Z</dcterms:modified>
</cp:coreProperties>
</file>